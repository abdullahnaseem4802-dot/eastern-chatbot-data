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8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7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5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5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2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5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6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26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70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8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2676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52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6636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93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5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90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66D3F-9769-493B-9E4E-1D7C1B1B00A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F1F5E03-59E0-4A11-980F-119F0684A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Pest Identification Chart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Common Household Pests in Pakistan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43049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4913" y="127721"/>
            <a:ext cx="8911687" cy="1280890"/>
          </a:xfrm>
        </p:spPr>
        <p:txBody>
          <a:bodyPr/>
          <a:lstStyle/>
          <a:p>
            <a:r>
              <a:rPr lang="en-US" sz="2800" b="1" dirty="0"/>
              <a:t>TERMITES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895333"/>
              </p:ext>
            </p:extLst>
          </p:nvPr>
        </p:nvGraphicFramePr>
        <p:xfrm>
          <a:off x="2275703" y="1158239"/>
          <a:ext cx="8915400" cy="1352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908">
                  <a:extLst>
                    <a:ext uri="{9D8B030D-6E8A-4147-A177-3AD203B41FA5}">
                      <a16:colId xmlns:a16="http://schemas.microsoft.com/office/drawing/2014/main" val="358555138"/>
                    </a:ext>
                  </a:extLst>
                </a:gridCol>
                <a:gridCol w="1766252">
                  <a:extLst>
                    <a:ext uri="{9D8B030D-6E8A-4147-A177-3AD203B41FA5}">
                      <a16:colId xmlns:a16="http://schemas.microsoft.com/office/drawing/2014/main" val="2825927028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436999076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40188846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792376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Size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Color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Signs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Damage Level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9951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Subterranean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1/8 inch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Creamy white to brown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Mud tubes, hollow wood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SEVERE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7033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Drywood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1/8 inch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Pale brown to yellow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Wood droppings, small holes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SEVERE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264027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174913" y="2854344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COCKROACHES</a:t>
            </a:r>
            <a:endParaRPr lang="en-US" sz="2000" b="1" dirty="0"/>
          </a:p>
          <a:p>
            <a:r>
              <a:rPr lang="en-US" sz="2000" b="1" dirty="0"/>
              <a:t/>
            </a:r>
            <a:br>
              <a:rPr lang="en-US" sz="2000" b="1" dirty="0"/>
            </a:br>
            <a:endParaRPr lang="en-US" sz="2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391056"/>
              </p:ext>
            </p:extLst>
          </p:nvPr>
        </p:nvGraphicFramePr>
        <p:xfrm>
          <a:off x="2275703" y="3857897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8346067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469273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799919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73126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9638448"/>
                    </a:ext>
                  </a:extLst>
                </a:gridCol>
              </a:tblGrid>
              <a:tr h="2264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Species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Size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Appearance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Characteristics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Health Risk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5394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German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1/2 to 5/8 inch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Light brown, 2 stripes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Musty odor, fast breeding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HIGH RISK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183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American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1-1/2 to 2 inches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Reddish-brown, yellow band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Large droppings, can fly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HIGH RISK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730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Oriental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1 to 1-1/4 inches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Shiny black/dark brown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Strong smell, slow moving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705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505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2025" y="284476"/>
            <a:ext cx="8911687" cy="47317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ANTS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2774147"/>
              </p:ext>
            </p:extLst>
          </p:nvPr>
        </p:nvGraphicFramePr>
        <p:xfrm>
          <a:off x="2232025" y="1071290"/>
          <a:ext cx="8915400" cy="158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15886785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561552547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268365197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42686056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485423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Size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Color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Behavior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Control Difficulty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613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Pharaoh Ants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1/16 inch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Light yellow to red-brown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Multiple queens, huge colonies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VERY DIFFICULT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697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Carpenter Ants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1/4 to 1/2 inch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Black or red-black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Excavate wood, sawdust piles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56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Black Garden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1/8 inch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Dark brown to black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Forms trails to food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EASY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874329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136231" y="3235627"/>
            <a:ext cx="15135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RODENTS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818607"/>
              </p:ext>
            </p:extLst>
          </p:nvPr>
        </p:nvGraphicFramePr>
        <p:xfrm>
          <a:off x="2232025" y="3924421"/>
          <a:ext cx="8128000" cy="163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7217650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790497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514396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3684089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14207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Species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Size</a:t>
                      </a:r>
                      <a:endParaRPr lang="en-US" sz="16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Color</a:t>
                      </a:r>
                      <a:endParaRPr lang="en-US" sz="16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Signs</a:t>
                      </a:r>
                      <a:endParaRPr lang="en-US" sz="16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Health Risk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0313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House Mouse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2-4 inch body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Light brown to gray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Small droppings (1/4 inch)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HIGH RISK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9911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Norway Rat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7-9 inch body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Brown with gray belly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Large droppings (3/4 inch)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503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Roof Rat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6-8 inch body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Black to light brown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Droppings on elevated surfaces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5782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54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3136"/>
          </a:xfrm>
        </p:spPr>
        <p:txBody>
          <a:bodyPr>
            <a:normAutofit fontScale="90000"/>
          </a:bodyPr>
          <a:lstStyle/>
          <a:p>
            <a:r>
              <a:rPr lang="en-US" sz="2700" b="1" dirty="0"/>
              <a:t>MOSQUITOES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861191"/>
              </p:ext>
            </p:extLst>
          </p:nvPr>
        </p:nvGraphicFramePr>
        <p:xfrm>
          <a:off x="2493963" y="1498600"/>
          <a:ext cx="8915400" cy="1533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1157583866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01931335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4096266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51648271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313567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Appearance</a:t>
                      </a:r>
                      <a:endParaRPr lang="en-US" sz="16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Active Time</a:t>
                      </a:r>
                      <a:endParaRPr lang="en-US" sz="16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Breeding Site</a:t>
                      </a:r>
                      <a:endParaRPr lang="en-US" sz="16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Diseases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116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Aedes</a:t>
                      </a: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 (Dengue)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Black with white stripes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Daytime biter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Clean stagnant water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Dengue, Chikungunya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039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Culex (Common)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Brown, no markings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Night biter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Dirty water, drains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West Nile, Filariasis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8751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Anopheles (Malaria)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Dark brown, spotted wings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Night biter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Clean water with vegetation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Malaria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77888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592925" y="3218208"/>
            <a:ext cx="16177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BED BUGS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845971"/>
              </p:ext>
            </p:extLst>
          </p:nvPr>
        </p:nvGraphicFramePr>
        <p:xfrm>
          <a:off x="2493963" y="3884244"/>
          <a:ext cx="8128000" cy="232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974843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90839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Characteristic</a:t>
                      </a:r>
                      <a:endParaRPr lang="en-US" sz="1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82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Appearance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Flat, oval, reddish-brown, 1/4 inch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491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Signs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Blood spots on sheets, dark fecal spots, shed skins, musty odor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080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Hiding Places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Mattress seams, bed frames, furniture cracks, behind wallpaper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7296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Bites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Red, itchy welts in lines or clusters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513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Control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VERY DIFFICULT - Professional treatment essential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5222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31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403501"/>
          </a:xfrm>
        </p:spPr>
        <p:txBody>
          <a:bodyPr>
            <a:noAutofit/>
          </a:bodyPr>
          <a:lstStyle/>
          <a:p>
            <a:r>
              <a:rPr lang="en-US" sz="2000" b="1" dirty="0"/>
              <a:t>Pest Risk Level Classifications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153976"/>
              </p:ext>
            </p:extLst>
          </p:nvPr>
        </p:nvGraphicFramePr>
        <p:xfrm>
          <a:off x="2449513" y="1027611"/>
          <a:ext cx="8915400" cy="233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95443611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90327803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409471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Risk Level</a:t>
                      </a:r>
                      <a:endParaRPr lang="en-US" sz="1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Pests Included</a:t>
                      </a:r>
                      <a:endParaRPr lang="en-US" sz="1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Action Required</a:t>
                      </a:r>
                      <a:endParaRPr lang="en-US" sz="14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9886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CRITICAL RISK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Termites (active), Bed bugs, Rodents, Disease mosquitoes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IMMEDIATE ACTION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6359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HIGH RISK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Cockroaches (any), Carpenter ants, Fleas, Wasps near home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PROMPT TREATMENT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9603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MODERATE RISK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Common ants, House spiders, Stored product pests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SCHEDULE TREATMENT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26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LOW RISK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Outdoor spiders, Beneficial insects, Seasonal nuisances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MONITORING ONLY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808143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592925" y="3562515"/>
            <a:ext cx="3457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When to Call Eastern Services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340477"/>
              </p:ext>
            </p:extLst>
          </p:nvPr>
        </p:nvGraphicFramePr>
        <p:xfrm>
          <a:off x="2449513" y="4023360"/>
          <a:ext cx="8128000" cy="1840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125754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63164242"/>
                    </a:ext>
                  </a:extLst>
                </a:gridCol>
              </a:tblGrid>
              <a:tr h="3575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Immediate Call</a:t>
                      </a:r>
                      <a:endParaRPr lang="en-US" sz="1600" b="1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Urgent Call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887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✓ Multiple termite mud tubes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✓ Any bed bug signs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8051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✓ Rodent droppings or gnaw marks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✓ Large cockroach populations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0320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✓ Carpenter ant sawdust piles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✓ Mosquito breeding sites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744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✓ Wasp nests near entrances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/>
                          <a:cs typeface="Times New Roman" panose="02020603050405020304" pitchFamily="18" charset="0"/>
                        </a:rPr>
                        <a:t>✓ Pest identification help needed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988346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592925" y="6048494"/>
            <a:ext cx="4429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24/7 Emergency Service: </a:t>
            </a:r>
            <a:r>
              <a:rPr lang="en-US" dirty="0"/>
              <a:t>03361101234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5073389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</TotalTime>
  <Words>441</Words>
  <Application>Microsoft Office PowerPoint</Application>
  <PresentationFormat>Widescreen</PresentationFormat>
  <Paragraphs>144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MS Gothic</vt:lpstr>
      <vt:lpstr>Arial</vt:lpstr>
      <vt:lpstr>Calibri</vt:lpstr>
      <vt:lpstr>Cambria</vt:lpstr>
      <vt:lpstr>Century Gothic</vt:lpstr>
      <vt:lpstr>MS Mincho</vt:lpstr>
      <vt:lpstr>Times New Roman</vt:lpstr>
      <vt:lpstr>Wingdings 3</vt:lpstr>
      <vt:lpstr>Wisp</vt:lpstr>
      <vt:lpstr>Pest Identification Chart </vt:lpstr>
      <vt:lpstr>TERMITES </vt:lpstr>
      <vt:lpstr>ANTS </vt:lpstr>
      <vt:lpstr>MOSQUITOES </vt:lpstr>
      <vt:lpstr>Pest Risk Level Classifications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Pest Identification Chart</dc:title>
  <dc:creator>User</dc:creator>
  <cp:lastModifiedBy>User</cp:lastModifiedBy>
  <cp:revision>3</cp:revision>
  <dcterms:created xsi:type="dcterms:W3CDTF">2025-11-26T12:03:37Z</dcterms:created>
  <dcterms:modified xsi:type="dcterms:W3CDTF">2025-11-26T12:32:51Z</dcterms:modified>
</cp:coreProperties>
</file>